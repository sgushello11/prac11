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F98E58-9ACC-4A71-A6F8-F68AE9083B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5CA4A0-C9B5-4467-9EAD-D2B29E9B0AF9}">
      <dgm:prSet/>
      <dgm:spPr/>
      <dgm:t>
        <a:bodyPr/>
        <a:lstStyle/>
        <a:p>
          <a:r>
            <a:rPr lang="ru-RU" dirty="0"/>
            <a:t>Спроектирована БД </a:t>
          </a:r>
        </a:p>
        <a:p>
          <a:r>
            <a:rPr lang="ru-RU" dirty="0"/>
            <a:t>(по анализу предметной области и </a:t>
          </a:r>
          <a:r>
            <a:rPr lang="en-US" dirty="0"/>
            <a:t>ERD)</a:t>
          </a:r>
        </a:p>
      </dgm:t>
    </dgm:pt>
    <dgm:pt modelId="{4E0B1503-6B42-41B3-818F-E48294E8B065}" type="parTrans" cxnId="{920D35BE-2336-4E91-9CBC-0D6A3CBF7138}">
      <dgm:prSet/>
      <dgm:spPr/>
      <dgm:t>
        <a:bodyPr/>
        <a:lstStyle/>
        <a:p>
          <a:endParaRPr lang="en-US"/>
        </a:p>
      </dgm:t>
    </dgm:pt>
    <dgm:pt modelId="{D5CB2918-C347-43DE-B070-9FF54792F0CE}" type="sibTrans" cxnId="{920D35BE-2336-4E91-9CBC-0D6A3CBF7138}">
      <dgm:prSet/>
      <dgm:spPr/>
      <dgm:t>
        <a:bodyPr/>
        <a:lstStyle/>
        <a:p>
          <a:endParaRPr lang="en-US"/>
        </a:p>
      </dgm:t>
    </dgm:pt>
    <dgm:pt modelId="{E15E714F-308D-450A-966E-00F89F99FE18}">
      <dgm:prSet/>
      <dgm:spPr/>
      <dgm:t>
        <a:bodyPr/>
        <a:lstStyle/>
        <a:p>
          <a:r>
            <a:rPr lang="ru-RU" dirty="0"/>
            <a:t>Заполнена демонстрационными данными</a:t>
          </a:r>
          <a:endParaRPr lang="en-US" dirty="0"/>
        </a:p>
      </dgm:t>
    </dgm:pt>
    <dgm:pt modelId="{72361DB9-9AEB-4FD1-8D30-80A0680BB6FC}" type="parTrans" cxnId="{E32CBB6A-731C-4C1F-9834-193736B5442A}">
      <dgm:prSet/>
      <dgm:spPr/>
      <dgm:t>
        <a:bodyPr/>
        <a:lstStyle/>
        <a:p>
          <a:endParaRPr lang="en-US"/>
        </a:p>
      </dgm:t>
    </dgm:pt>
    <dgm:pt modelId="{47B858C5-A4F7-4DE7-95E0-C4856E19E43A}" type="sibTrans" cxnId="{E32CBB6A-731C-4C1F-9834-193736B5442A}">
      <dgm:prSet/>
      <dgm:spPr/>
      <dgm:t>
        <a:bodyPr/>
        <a:lstStyle/>
        <a:p>
          <a:endParaRPr lang="en-US"/>
        </a:p>
      </dgm:t>
    </dgm:pt>
    <dgm:pt modelId="{E32ABECD-CF25-4BF6-ACD9-E604CC0892DB}" type="pres">
      <dgm:prSet presAssocID="{49F98E58-9ACC-4A71-A6F8-F68AE9083B50}" presName="linear" presStyleCnt="0">
        <dgm:presLayoutVars>
          <dgm:animLvl val="lvl"/>
          <dgm:resizeHandles val="exact"/>
        </dgm:presLayoutVars>
      </dgm:prSet>
      <dgm:spPr/>
    </dgm:pt>
    <dgm:pt modelId="{892A8C3E-5B07-496B-BBBA-12747E7AD22B}" type="pres">
      <dgm:prSet presAssocID="{4E5CA4A0-C9B5-4467-9EAD-D2B29E9B0AF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BCF98B-F444-479A-A092-D687B2A13383}" type="pres">
      <dgm:prSet presAssocID="{D5CB2918-C347-43DE-B070-9FF54792F0CE}" presName="spacer" presStyleCnt="0"/>
      <dgm:spPr/>
    </dgm:pt>
    <dgm:pt modelId="{49D2F1C8-C0BF-43E3-A8C3-323ACDAFB839}" type="pres">
      <dgm:prSet presAssocID="{E15E714F-308D-450A-966E-00F89F99FE1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A820D00-4CD8-4236-AFC2-46D90F9FBE31}" type="presOf" srcId="{4E5CA4A0-C9B5-4467-9EAD-D2B29E9B0AF9}" destId="{892A8C3E-5B07-496B-BBBA-12747E7AD22B}" srcOrd="0" destOrd="0" presId="urn:microsoft.com/office/officeart/2005/8/layout/vList2"/>
    <dgm:cxn modelId="{E32CBB6A-731C-4C1F-9834-193736B5442A}" srcId="{49F98E58-9ACC-4A71-A6F8-F68AE9083B50}" destId="{E15E714F-308D-450A-966E-00F89F99FE18}" srcOrd="1" destOrd="0" parTransId="{72361DB9-9AEB-4FD1-8D30-80A0680BB6FC}" sibTransId="{47B858C5-A4F7-4DE7-95E0-C4856E19E43A}"/>
    <dgm:cxn modelId="{16AD5183-4456-4247-8107-DF2F5256D550}" type="presOf" srcId="{49F98E58-9ACC-4A71-A6F8-F68AE9083B50}" destId="{E32ABECD-CF25-4BF6-ACD9-E604CC0892DB}" srcOrd="0" destOrd="0" presId="urn:microsoft.com/office/officeart/2005/8/layout/vList2"/>
    <dgm:cxn modelId="{920D35BE-2336-4E91-9CBC-0D6A3CBF7138}" srcId="{49F98E58-9ACC-4A71-A6F8-F68AE9083B50}" destId="{4E5CA4A0-C9B5-4467-9EAD-D2B29E9B0AF9}" srcOrd="0" destOrd="0" parTransId="{4E0B1503-6B42-41B3-818F-E48294E8B065}" sibTransId="{D5CB2918-C347-43DE-B070-9FF54792F0CE}"/>
    <dgm:cxn modelId="{54375CE0-05DA-4A33-AE31-D00565525602}" type="presOf" srcId="{E15E714F-308D-450A-966E-00F89F99FE18}" destId="{49D2F1C8-C0BF-43E3-A8C3-323ACDAFB839}" srcOrd="0" destOrd="0" presId="urn:microsoft.com/office/officeart/2005/8/layout/vList2"/>
    <dgm:cxn modelId="{08A46A71-D4D4-44C2-8F45-78C8A03496D5}" type="presParOf" srcId="{E32ABECD-CF25-4BF6-ACD9-E604CC0892DB}" destId="{892A8C3E-5B07-496B-BBBA-12747E7AD22B}" srcOrd="0" destOrd="0" presId="urn:microsoft.com/office/officeart/2005/8/layout/vList2"/>
    <dgm:cxn modelId="{9D5AF8FA-3C8D-42D6-A42B-A21DFB135D88}" type="presParOf" srcId="{E32ABECD-CF25-4BF6-ACD9-E604CC0892DB}" destId="{61BCF98B-F444-479A-A092-D687B2A13383}" srcOrd="1" destOrd="0" presId="urn:microsoft.com/office/officeart/2005/8/layout/vList2"/>
    <dgm:cxn modelId="{23735243-DC3F-4B44-B601-6815AF3F29CA}" type="presParOf" srcId="{E32ABECD-CF25-4BF6-ACD9-E604CC0892DB}" destId="{49D2F1C8-C0BF-43E3-A8C3-323ACDAFB83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A8C3E-5B07-496B-BBBA-12747E7AD22B}">
      <dsp:nvSpPr>
        <dsp:cNvPr id="0" name=""/>
        <dsp:cNvSpPr/>
      </dsp:nvSpPr>
      <dsp:spPr>
        <a:xfrm>
          <a:off x="0" y="10293"/>
          <a:ext cx="5020335" cy="173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Спроектирована БД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(по анализу предметной области и </a:t>
          </a:r>
          <a:r>
            <a:rPr lang="en-US" sz="2800" kern="1200" dirty="0"/>
            <a:t>ERD)</a:t>
          </a:r>
        </a:p>
      </dsp:txBody>
      <dsp:txXfrm>
        <a:off x="84758" y="95051"/>
        <a:ext cx="4850819" cy="1566764"/>
      </dsp:txXfrm>
    </dsp:sp>
    <dsp:sp modelId="{49D2F1C8-C0BF-43E3-A8C3-323ACDAFB839}">
      <dsp:nvSpPr>
        <dsp:cNvPr id="0" name=""/>
        <dsp:cNvSpPr/>
      </dsp:nvSpPr>
      <dsp:spPr>
        <a:xfrm>
          <a:off x="0" y="1827214"/>
          <a:ext cx="5020335" cy="173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Заполнена демонстрационными данными</a:t>
          </a:r>
          <a:endParaRPr lang="en-US" sz="2800" kern="1200" dirty="0"/>
        </a:p>
      </dsp:txBody>
      <dsp:txXfrm>
        <a:off x="84758" y="1911972"/>
        <a:ext cx="4850819" cy="1566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E1688-CE17-0EAF-EAF5-4919E1FF0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384729-624E-08F9-E388-CE602AB1A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DB36AA-7D00-844D-6363-22F9C1A9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098D67-B5CF-2E03-D7A8-6E8F5ACC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EF73B7-04D1-8528-B349-F0F9B327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01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4F468-E228-11E3-47D6-E0D6768C7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A06343-0A89-BF82-D89A-CD622AD4F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803838-F82A-4064-86A0-52BEF7FF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036ECF-EAE0-569A-C195-98DB0ACB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0382A2-6B40-342A-C01B-12FAEAC6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7C543-8F51-DA73-524C-7E0CF3A07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2DF89F-4ADC-4C2A-014A-004F6E9FC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D04413-E392-152C-A12C-E4A38B82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BB6B9F-1949-2BE8-BFD5-AA82F3A5F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0FF6A6-B7FF-E1A6-7F4B-8C553747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573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97FEC-6C08-87DB-5CE3-D43E8038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52DDF2-E116-1492-721C-A8165EF7F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D46445-EA1F-DD60-64E7-1C2529B19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DC6E32-5A42-2270-B15C-3CBB2ECF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12BDC0-49E0-A397-26BD-06862A4E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4C2440-495A-94B4-91BC-77CC7B65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01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47AFB-F672-3E4C-93C1-4C99558D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BCAC1-EF13-9C6F-9C0E-F699FF41E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7EE04B-39A5-2074-E007-633241B0A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7C0551-63A1-1181-E947-B097020D0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7554CCC-0240-F40A-0FD5-3CD51E469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9302A21-0282-15C4-A01D-3238D2AE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F873C46-C888-C487-8893-F7D5C5B2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99DC6B-F44E-015D-8AAB-F327A2E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25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B6AAC-C3F5-A351-4136-3D1D436B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039A3EC-A86F-1B0C-D584-4FE432A7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7E0387-8682-3EB3-540D-4632767E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C4413F-CD14-8757-EBE3-C6DA1FEF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02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106D13-2ADE-528D-6CED-D7D38CC7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951BC74-23F4-8CA7-A482-41884F7C4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113472-B41E-D56B-719E-B7AA25AE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3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84A19-FD60-37B7-E146-094FFE889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EF14C0-B5F6-B82E-96B9-2B534D410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1CB86D-F5B7-A579-EF1C-C848DBA7D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A01F8C-B47F-2EF7-B7B9-70B19E646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D0FBDB-CAA2-2202-7289-F8202164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14949F-FDEC-4806-83E1-110A773E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68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9088A-3656-C60E-8425-D4DEC46B1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0D23803-3819-02FE-221A-F61C1B3BD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C807A9-3D90-4BB4-81E9-07EE38004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F6C404-1D5C-F25E-EC1A-B28065E9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4A63A4-5B0A-5E25-8C1E-0A9577A3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A260F9-8C47-6725-5CF6-81F5190D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068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45F9C4-B57D-25F1-8CC7-E7ED674C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8204B4-FC1A-B8F0-97B9-4725F8D4E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53A2F3-4BDB-5012-F6FA-B956D078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3CCE0E-68F1-29A8-9522-0795024A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F8DB78-1886-6C7E-24FA-409D9672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98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4BA9C9B-9F07-7BF2-EC33-28968C4A4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7F588D-9F59-EBEA-7A81-2C585F25E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9871A7-1661-14BE-4141-1A89F18C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9AE6DD-82F2-34A9-990A-73834641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1C55A9-1D18-0978-9760-21C1ACE1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01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D8AF9D-AE94-D6AE-BA16-AC5646C7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302FF6-224C-6CC2-E316-DFB3D2126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E26E07-84A8-536E-ED63-97460F308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06136-4108-482B-AFFF-106B86E39634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138312-E680-2385-6DAA-056FEB2F7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37E3AA-DEF8-D31A-7CD6-45D98EF55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23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EB1AC-2E97-98EC-A699-298A5A004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2290"/>
            <a:ext cx="9144000" cy="2290813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ОТЧЕТ</a:t>
            </a:r>
            <a:br>
              <a:rPr lang="ru-RU" sz="2800" b="1" dirty="0"/>
            </a:br>
            <a:br>
              <a:rPr lang="ru-RU" sz="2800" dirty="0"/>
            </a:br>
            <a:r>
              <a:rPr lang="ru-RU" sz="2800" b="1" dirty="0"/>
              <a:t> по учебной практике</a:t>
            </a:r>
            <a:br>
              <a:rPr lang="ru-RU" sz="2800" dirty="0"/>
            </a:br>
            <a:r>
              <a:rPr lang="ru-RU" sz="2800" b="1" dirty="0"/>
              <a:t>ПМ11. Разработка, администрирование и защита баз данных</a:t>
            </a:r>
            <a:br>
              <a:rPr lang="ru-RU" sz="5400" dirty="0"/>
            </a:br>
            <a:r>
              <a:rPr lang="ru-RU" sz="2800" dirty="0"/>
              <a:t>Тема: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базы данных «Учёт входящих и исходящих документов»</a:t>
            </a: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A271E9-7A07-34B5-71B8-9D5792454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6355"/>
            <a:ext cx="9144000" cy="1235935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МИНИСТЕРСТВО ОБРАЗОВАНИЯ КИРОВСКОЙ ОБЛАСТИ</a:t>
            </a:r>
          </a:p>
          <a:p>
            <a:r>
              <a:rPr lang="ru-RU" dirty="0"/>
              <a:t>Кировское областное государственное профессиональное образовательное </a:t>
            </a:r>
          </a:p>
          <a:p>
            <a:r>
              <a:rPr lang="ru-RU" dirty="0"/>
              <a:t> бюджетное учреждение  </a:t>
            </a:r>
          </a:p>
          <a:p>
            <a:r>
              <a:rPr lang="ru-RU" dirty="0"/>
              <a:t>«Слободской колледж педагогики и социальных отношений»</a:t>
            </a:r>
          </a:p>
          <a:p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E69DBC7-F925-4CF3-E027-0938593B0E26}"/>
              </a:ext>
            </a:extLst>
          </p:cNvPr>
          <p:cNvSpPr txBox="1">
            <a:spLocks/>
          </p:cNvSpPr>
          <p:nvPr/>
        </p:nvSpPr>
        <p:spPr>
          <a:xfrm>
            <a:off x="5717406" y="3933068"/>
            <a:ext cx="6296526" cy="20249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/>
              <a:t>Выполнила: Гущеварова Валерия Александровна</a:t>
            </a:r>
          </a:p>
          <a:p>
            <a:pPr algn="r"/>
            <a:r>
              <a:rPr lang="ru-RU" dirty="0"/>
              <a:t>Группа: 23П-2</a:t>
            </a:r>
          </a:p>
          <a:p>
            <a:pPr algn="r"/>
            <a:r>
              <a:rPr lang="ru-RU" dirty="0"/>
              <a:t>Специальность: 09.02.07 Информационные системы и программирование</a:t>
            </a:r>
          </a:p>
          <a:p>
            <a:pPr algn="r"/>
            <a:r>
              <a:rPr lang="ru-RU" dirty="0"/>
              <a:t>Руководитель: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Михалев Максим Александрович</a:t>
            </a:r>
            <a:endParaRPr lang="ru-RU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602E7854-E0FE-F252-218F-CC90BB16C4F6}"/>
              </a:ext>
            </a:extLst>
          </p:cNvPr>
          <p:cNvSpPr txBox="1">
            <a:spLocks/>
          </p:cNvSpPr>
          <p:nvPr/>
        </p:nvSpPr>
        <p:spPr>
          <a:xfrm>
            <a:off x="5297905" y="6073542"/>
            <a:ext cx="1596190" cy="538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2026г.</a:t>
            </a:r>
          </a:p>
        </p:txBody>
      </p:sp>
    </p:spTree>
    <p:extLst>
      <p:ext uri="{BB962C8B-B14F-4D97-AF65-F5344CB8AC3E}">
        <p14:creationId xmlns:p14="http://schemas.microsoft.com/office/powerpoint/2010/main" val="89542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AF173-E752-3E50-4DE1-C9D058A6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7" y="149513"/>
            <a:ext cx="10515600" cy="1325563"/>
          </a:xfrm>
        </p:spPr>
        <p:txBody>
          <a:bodyPr/>
          <a:lstStyle/>
          <a:p>
            <a:r>
              <a:rPr lang="ru-RU" b="1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BAE4BD-EA2E-BACF-D436-2A8AE6BA2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07" y="1404719"/>
            <a:ext cx="11296606" cy="5108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Цель:</a:t>
            </a:r>
            <a:r>
              <a:rPr lang="ru-RU" dirty="0"/>
              <a:t> Разработать информационную систему для учёта входящих и исходящих документов.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Провести анализ предметной области</a:t>
            </a:r>
          </a:p>
          <a:p>
            <a:r>
              <a:rPr lang="ru-RU" dirty="0"/>
              <a:t>Спроектировать базу данных (3НФ)</a:t>
            </a:r>
          </a:p>
          <a:p>
            <a:r>
              <a:rPr lang="ru-RU" dirty="0"/>
              <a:t>Создать БД в MS SQL Server</a:t>
            </a:r>
          </a:p>
          <a:p>
            <a:r>
              <a:rPr lang="ru-RU" dirty="0"/>
              <a:t>Разработать приложение на C# WPF</a:t>
            </a:r>
          </a:p>
          <a:p>
            <a:r>
              <a:rPr lang="ru-RU" dirty="0"/>
              <a:t>Реализовать CRUD операции</a:t>
            </a:r>
          </a:p>
          <a:p>
            <a:r>
              <a:rPr lang="ru-RU" dirty="0"/>
              <a:t>Добавить авторизацию и роли</a:t>
            </a:r>
          </a:p>
          <a:p>
            <a:r>
              <a:rPr lang="ru-RU" dirty="0"/>
              <a:t>Сделать резервное копирование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4919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51EC969-59DD-1CEE-F576-E584BB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07" y="1402112"/>
            <a:ext cx="4930708" cy="487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Бизнес-процессы:</a:t>
            </a:r>
            <a:endParaRPr lang="ru-RU" dirty="0"/>
          </a:p>
          <a:p>
            <a:r>
              <a:rPr lang="ru-RU" dirty="0"/>
              <a:t>Регистрация входящего документа</a:t>
            </a:r>
          </a:p>
          <a:p>
            <a:r>
              <a:rPr lang="ru-RU" dirty="0"/>
              <a:t>Регистрация исходящего документа</a:t>
            </a:r>
          </a:p>
          <a:p>
            <a:r>
              <a:rPr lang="ru-RU" dirty="0"/>
              <a:t>Поиск документа по номеру</a:t>
            </a:r>
          </a:p>
          <a:p>
            <a:pPr marL="0" indent="0">
              <a:buNone/>
            </a:pPr>
            <a:r>
              <a:rPr lang="ru-RU" b="1" dirty="0"/>
              <a:t>Сущности:</a:t>
            </a:r>
            <a:endParaRPr lang="ru-RU" dirty="0"/>
          </a:p>
          <a:p>
            <a:r>
              <a:rPr lang="ru-RU" dirty="0"/>
              <a:t>Документ (Document)</a:t>
            </a:r>
          </a:p>
          <a:p>
            <a:r>
              <a:rPr lang="ru-RU" dirty="0"/>
              <a:t>Пользователь (User)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C604C0E-46A4-C7AE-7B3C-40ADC1B9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7" y="149513"/>
            <a:ext cx="10515600" cy="1325563"/>
          </a:xfrm>
        </p:spPr>
        <p:txBody>
          <a:bodyPr/>
          <a:lstStyle/>
          <a:p>
            <a:r>
              <a:rPr lang="ru-RU" b="1" dirty="0"/>
              <a:t>Анализ предметной области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7CD9090-E6F8-5B57-6FAA-A38338BEE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86" y="1019617"/>
            <a:ext cx="6808155" cy="551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82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D21D-3748-6BF5-F306-4DF0C868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B0E9068-D6A6-5B70-ED4D-43D424F6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b="1" dirty="0"/>
              <a:t>ER-диаграмма базы данных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4D5275-D9F1-21C7-90AB-7214A26F4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986" y="1007407"/>
            <a:ext cx="8103958" cy="57574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412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ED20D-5944-6E82-EF09-91F29E4A3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61C7BA8-BE29-AC8C-191F-055365C3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ru-RU" sz="5400" b="1" dirty="0"/>
              <a:t>Структура базы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1B2182-26FF-CD71-E94F-0E0E97AE3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774" y="795737"/>
            <a:ext cx="4116671" cy="7204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Объект 2">
            <a:extLst>
              <a:ext uri="{FF2B5EF4-FFF2-40B4-BE49-F238E27FC236}">
                <a16:creationId xmlns:a16="http://schemas.microsoft.com/office/drawing/2014/main" id="{DE6C2486-6E84-1F6C-7C85-A52FFC87CC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531732"/>
              </p:ext>
            </p:extLst>
          </p:nvPr>
        </p:nvGraphicFramePr>
        <p:xfrm>
          <a:off x="612648" y="2603175"/>
          <a:ext cx="5020335" cy="3573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C927431-CF3B-517E-9002-EDBE27D4E5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6788" y="2039329"/>
            <a:ext cx="4114657" cy="21293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75DDC8-EB47-A607-4B1A-4F8B14D04E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6786" y="4833390"/>
            <a:ext cx="4114660" cy="8229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228E9C7-A2BD-6053-E019-993491C780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8015" y="2141609"/>
            <a:ext cx="4718583" cy="287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B8FE6DA-97C5-A6F0-22A6-4603495898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129" y="1395128"/>
            <a:ext cx="2619741" cy="40677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936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6AE87-CE46-3767-00AB-97091EF9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334FD8-1D8B-3A7E-0EC1-8F73D4A5F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ru-RU" sz="4800" b="1"/>
              <a:t>Роли пользователей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78B3B83-6BF3-74EA-5953-DE784A1BE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633" y="520022"/>
            <a:ext cx="6291072" cy="203408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200" dirty="0"/>
              <a:t>Три основных роли: </a:t>
            </a:r>
          </a:p>
          <a:p>
            <a:r>
              <a:rPr lang="ru-RU" sz="2200" dirty="0"/>
              <a:t>Администратор (полный доступ)</a:t>
            </a:r>
          </a:p>
          <a:p>
            <a:r>
              <a:rPr lang="ru-RU" sz="2200" dirty="0"/>
              <a:t>Оператор (добавление, редактирование)</a:t>
            </a:r>
          </a:p>
          <a:p>
            <a:r>
              <a:rPr lang="ru-RU" sz="2200" dirty="0"/>
              <a:t>Просмотрщик (только просмотр)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4D3AB5-0171-8DE9-E982-966ADE417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54" y="2386584"/>
            <a:ext cx="5623094" cy="41189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9C026E7-95F5-CD7E-0C3A-7C86A1553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754" y="3718609"/>
            <a:ext cx="5623092" cy="15304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18C2BFF-8028-1F2A-0368-95F8718C5E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74336" y="457200"/>
            <a:ext cx="456223" cy="1811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267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9725D-ABA8-48AD-BFAD-3B40C0A38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F4E5977-D272-4E11-A03A-860268F25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CE3386-CA59-42A7-AEDE-0B76443C8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F2194FD-F073-9BCA-9514-3DF47813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834" y="643357"/>
            <a:ext cx="4541660" cy="1176382"/>
          </a:xfrm>
        </p:spPr>
        <p:txBody>
          <a:bodyPr anchor="b">
            <a:normAutofit/>
          </a:bodyPr>
          <a:lstStyle/>
          <a:p>
            <a:r>
              <a:rPr lang="ru-RU" sz="4800" b="1" dirty="0">
                <a:solidFill>
                  <a:schemeClr val="tx2"/>
                </a:solidFill>
              </a:rPr>
              <a:t>Приложение</a:t>
            </a:r>
            <a:endParaRPr lang="ru-RU" sz="48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D8525-4DDE-897E-864B-0C935B8ED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14" y="3732448"/>
            <a:ext cx="5091601" cy="27251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6E7A17-B754-84DE-18FC-882D8446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731" y="536172"/>
            <a:ext cx="2848228" cy="29779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E088EE-C3C1-FCBB-C5A2-146A0C644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18" y="1377289"/>
            <a:ext cx="2579821" cy="165982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86C32D2-94E1-4C20-9977-69D4D1F68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847360" y="4513360"/>
            <a:ext cx="2514948" cy="2174333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EF1C65E-19AB-4AB5-AFAE-5BE4430B1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20">
              <a:extLst>
                <a:ext uri="{FF2B5EF4-FFF2-40B4-BE49-F238E27FC236}">
                  <a16:creationId xmlns:a16="http://schemas.microsoft.com/office/drawing/2014/main" id="{679DC337-4663-43ED-94FF-578FCC16A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9D6286C-2480-4CBF-8601-1AEE454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22">
              <a:extLst>
                <a:ext uri="{FF2B5EF4-FFF2-40B4-BE49-F238E27FC236}">
                  <a16:creationId xmlns:a16="http://schemas.microsoft.com/office/drawing/2014/main" id="{216D01AE-CAAB-4E02-BFFF-211B8032C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04EFBC-4175-BEF0-C649-9037FC6DF7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67658" y="4132250"/>
            <a:ext cx="2220187" cy="27251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E6887-5944-898C-75F5-FCA955C19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3800" y="1841626"/>
            <a:ext cx="4637639" cy="437301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2"/>
                </a:solidFill>
              </a:rPr>
              <a:t>Реализовано:</a:t>
            </a:r>
          </a:p>
          <a:p>
            <a:r>
              <a:rPr lang="ru-RU" dirty="0">
                <a:solidFill>
                  <a:schemeClr val="tx2"/>
                </a:solidFill>
              </a:rPr>
              <a:t>Окно авторизации</a:t>
            </a:r>
          </a:p>
          <a:p>
            <a:r>
              <a:rPr lang="ru-RU" dirty="0">
                <a:solidFill>
                  <a:schemeClr val="tx2"/>
                </a:solidFill>
              </a:rPr>
              <a:t>Главное окно</a:t>
            </a:r>
          </a:p>
          <a:p>
            <a:r>
              <a:rPr lang="en-US" dirty="0">
                <a:solidFill>
                  <a:schemeClr val="tx2"/>
                </a:solidFill>
              </a:rPr>
              <a:t>CRUD-</a:t>
            </a:r>
            <a:r>
              <a:rPr lang="ru-RU" dirty="0">
                <a:solidFill>
                  <a:schemeClr val="tx2"/>
                </a:solidFill>
              </a:rPr>
              <a:t>операции (добавление, просмотр, редактирование, удаление)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Поиск документа по номеру</a:t>
            </a:r>
          </a:p>
        </p:txBody>
      </p:sp>
    </p:spTree>
    <p:extLst>
      <p:ext uri="{BB962C8B-B14F-4D97-AF65-F5344CB8AC3E}">
        <p14:creationId xmlns:p14="http://schemas.microsoft.com/office/powerpoint/2010/main" val="261704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E7FC0-9EEF-FD69-265E-B7ABCF98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538AEA2-52F9-4051-117F-235DFADF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b="1" dirty="0"/>
              <a:t>Резервное копирование и восстановление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E6291EC-75F5-E0F5-7568-01BF4A2F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70" y="1364988"/>
            <a:ext cx="4692613" cy="44704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274687-BF98-92FA-153F-2FD54C4AE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47" y="1475076"/>
            <a:ext cx="5955455" cy="113165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8110F1-43DB-87E3-FF6C-364398D30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247" y="3428999"/>
            <a:ext cx="5955455" cy="113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0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D23B8-8D46-FB0E-8C2E-67434093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8D615FC-37F7-5C20-F6FB-FC3678D3D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anchor="b">
            <a:normAutofit/>
          </a:bodyPr>
          <a:lstStyle/>
          <a:p>
            <a:r>
              <a:rPr lang="ru-RU" b="1" dirty="0"/>
              <a:t>Отчет и документация</a:t>
            </a:r>
            <a:endParaRPr lang="ru-RU" dirty="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E901B8D-CA76-5131-0957-3A3F1F5F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Документация:</a:t>
            </a:r>
          </a:p>
          <a:p>
            <a:r>
              <a:rPr lang="ru-RU" dirty="0"/>
              <a:t>Диаграмма вариантов использования</a:t>
            </a:r>
            <a:endParaRPr lang="en-US" dirty="0"/>
          </a:p>
          <a:p>
            <a:r>
              <a:rPr lang="ru-RU" dirty="0"/>
              <a:t>Дневник практики</a:t>
            </a:r>
          </a:p>
          <a:p>
            <a:r>
              <a:rPr lang="ru-RU" dirty="0"/>
              <a:t>Аттестационный лист</a:t>
            </a:r>
          </a:p>
          <a:p>
            <a:r>
              <a:rPr lang="ru-RU" dirty="0"/>
              <a:t>Отчет по практике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44B744-F17B-7C93-0409-9C5B450F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7" y="468788"/>
            <a:ext cx="3329933" cy="26639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60A323-B4C3-3B0C-7AAB-025391672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085325"/>
            <a:ext cx="3785616" cy="17735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E8DB3D-0095-25C3-5828-CEDFAB4F9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7" y="3195759"/>
            <a:ext cx="3485381" cy="2773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2C029A-46A5-2F48-92F4-7722D01FF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104" y="3248233"/>
            <a:ext cx="3629400" cy="26688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51251B9-4472-7806-67C9-75D76EB623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0917" y="2526126"/>
            <a:ext cx="3787519" cy="266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21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5A3AE-763E-D9DF-5245-60F403157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8F6F704-A397-D8D5-8D69-F943493C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754D79F-5F59-ECB2-B2F8-92C9F3CF1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04" y="1402112"/>
            <a:ext cx="11506013" cy="5026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Я научилась:</a:t>
            </a:r>
          </a:p>
          <a:p>
            <a:r>
              <a:rPr lang="ru-RU" dirty="0"/>
              <a:t>Проектировать БД в 3НФ</a:t>
            </a:r>
          </a:p>
          <a:p>
            <a:r>
              <a:rPr lang="ru-RU" dirty="0"/>
              <a:t>Разрабатывать </a:t>
            </a:r>
            <a:r>
              <a:rPr lang="en-US" dirty="0"/>
              <a:t>WPF-</a:t>
            </a:r>
            <a:r>
              <a:rPr lang="ru-RU" dirty="0"/>
              <a:t>приложения</a:t>
            </a:r>
          </a:p>
          <a:p>
            <a:r>
              <a:rPr lang="ru-RU" dirty="0"/>
              <a:t>Реализовывать </a:t>
            </a:r>
            <a:r>
              <a:rPr lang="en-US" dirty="0"/>
              <a:t>CRUD</a:t>
            </a:r>
            <a:r>
              <a:rPr lang="ru-RU" dirty="0"/>
              <a:t>-операции</a:t>
            </a:r>
          </a:p>
          <a:p>
            <a:r>
              <a:rPr lang="ru-RU" dirty="0"/>
              <a:t>Добавлять авторизацию (3 роли)</a:t>
            </a:r>
          </a:p>
          <a:p>
            <a:r>
              <a:rPr lang="ru-RU" dirty="0"/>
              <a:t>Реализовывать поиск документов по номеру</a:t>
            </a:r>
          </a:p>
          <a:p>
            <a:r>
              <a:rPr lang="ru-RU" dirty="0"/>
              <a:t>Создавать резервные копирования и восстановления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Все цели и задачи практики были выполнены в полном объёме</a:t>
            </a:r>
          </a:p>
        </p:txBody>
      </p:sp>
    </p:spTree>
    <p:extLst>
      <p:ext uri="{BB962C8B-B14F-4D97-AF65-F5344CB8AC3E}">
        <p14:creationId xmlns:p14="http://schemas.microsoft.com/office/powerpoint/2010/main" val="5189714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269</Words>
  <Application>Microsoft Office PowerPoint</Application>
  <PresentationFormat>Широкоэкранный</PresentationFormat>
  <Paragraphs>61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Тема Office</vt:lpstr>
      <vt:lpstr>ОТЧЕТ   по учебной практике ПМ11. Разработка, администрирование и защита баз данных Тема: Разработка базы данных «Учёт входящих и исходящих документов»</vt:lpstr>
      <vt:lpstr>Цель и задачи практики</vt:lpstr>
      <vt:lpstr>Анализ предметной области</vt:lpstr>
      <vt:lpstr>ER-диаграмма базы данных</vt:lpstr>
      <vt:lpstr>Структура базы данных</vt:lpstr>
      <vt:lpstr>Роли пользователей</vt:lpstr>
      <vt:lpstr>Приложение</vt:lpstr>
      <vt:lpstr>Резервное копирование и восстановление</vt:lpstr>
      <vt:lpstr>Отчет и документация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Sgushello LI</dc:creator>
  <cp:lastModifiedBy>Sgushello LI</cp:lastModifiedBy>
  <cp:revision>19</cp:revision>
  <dcterms:created xsi:type="dcterms:W3CDTF">2026-04-20T16:01:16Z</dcterms:created>
  <dcterms:modified xsi:type="dcterms:W3CDTF">2026-05-25T23:45:15Z</dcterms:modified>
</cp:coreProperties>
</file>